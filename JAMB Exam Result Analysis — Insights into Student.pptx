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simiadesewa@gmail.com" initials="s" lastIdx="1" clrIdx="0">
    <p:extLst>
      <p:ext uri="{19B8F6BF-5375-455C-9EA6-DF929625EA0E}">
        <p15:presenceInfo xmlns:p15="http://schemas.microsoft.com/office/powerpoint/2012/main" userId="e3bfbc6f547b798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2FA"/>
    <a:srgbClr val="F2F2F2"/>
    <a:srgbClr val="F5F5F0"/>
    <a:srgbClr val="2F3E46"/>
    <a:srgbClr val="1A2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9T19:20:56.123" idx="1">
    <p:pos x="10" y="10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4B3D-B31E-49E8-9A56-092363BE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861FD-8658-4742-8F4B-627B7CAD6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7B45-935E-4FC5-92D0-C5487852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811B2-5D76-4792-BC25-614BE622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F8A5-26E9-46C4-99AE-A73F1F30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9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18B5-56DC-4DD9-8741-BBF827FA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0716-63DE-4D0D-9BAB-45D06AB79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90BC-E6E6-40A4-83D0-2E2F5B79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3B574-B70C-4B26-A61B-5DB846DF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47992-2676-41D2-9D21-540D6872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8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B419-B74E-4C64-8825-8830B8CB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56418-00F8-4741-AE32-3BD65124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EB72B-C8C9-41CD-97C4-9D6448D6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3FD3-1E1E-4F00-9396-BDDD21F1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AFA9-402D-45B8-9554-BD9A708A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8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A3E0-87E0-4EB2-B6DC-0478AB36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EB364-23E6-47E3-B849-0AF1E907D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AF39A-4396-4175-ACC5-0A02B76E9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27DB-21C1-4961-9E32-67FE88B5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B05FA-5537-4A04-93DE-6142D9B7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033AE-6FF0-4630-B19E-A6F565AC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8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553F-5259-4AE1-8AED-7DFBD665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81EAE-B726-4FFD-AAFA-3D558923A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679F0-ACB4-46F1-BABE-66B69D34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A8467-0C83-45B0-A9DC-059581BA8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DE762F-CB73-4D55-B4AD-EA596ED72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15055-612F-4479-9CB4-E384F88C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9B796-8AD3-4FEA-98FA-0093AA7A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F6AD4-6E6C-433F-924F-3DB673F4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9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3FEC-A3FD-4911-9D95-3D273364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408BB-02FC-4378-AEC0-4FA5C86E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73588-3021-48D8-A8AD-6E1B6C6E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0955A-33FD-4332-A472-063798DB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A6270-A7C4-470C-9661-60E5C549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4E85C-D5CD-413D-AF8D-0DAE1AF6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5138E-8D62-487C-98C0-81FA5ECB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4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C832-2418-4D85-A67A-1819304C7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DD6D0-64FA-4E82-8AF0-2F2B13E1D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3844A-DD58-436E-9983-23EABB8C3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87C62-736E-4B54-BF89-5AADFF2D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CD48C-12F1-44BE-8F3F-9013107A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CDCB2-F2B1-46D4-823B-48F48997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1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03CD-D14B-44CA-998E-BD945C4B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51453-6E4F-41EB-B923-EE3F8386A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1A796-FAFC-46E9-9BAA-8BA7F8457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7627B-80FD-4A65-B8C7-F2703DD2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23582-4423-443D-94A6-145EFDF0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58F7-89DC-4959-A713-98668BF2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8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CAD-27E1-4D8F-8493-3140D175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9AFAC-049D-4C9D-B699-8BAD590AC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747F4-C96C-44B4-901A-7D7BF3D9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77E38-A948-4E3F-9BB3-B51850FB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FD9D5-2751-4617-8C01-B37650C7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F2827-4C27-4032-8254-47BB7F02E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DDADA-3413-453B-AC1E-729174540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DC8E5-797D-4B5A-912C-960C2254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46712-1E57-41AF-91DA-871A582A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01703-5AE9-4B11-BC0A-377E6D23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1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4FE97-79B4-4AD2-9AF2-0D38381B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2C12F-C161-405E-A09B-9751B2F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4543A-D940-44EC-A74F-33789F5F4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C326B-1385-4B8A-99AD-C79471B2998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D399-0DB5-408E-A0E3-D05D48E1F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3821-2088-46FF-849B-272C89B08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02E17-6178-4296-8F67-AEB757C0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1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6776" y="510989"/>
            <a:ext cx="7230035" cy="2891118"/>
          </a:xfrm>
        </p:spPr>
        <p:txBody>
          <a:bodyPr>
            <a:noAutofit/>
          </a:bodyPr>
          <a:lstStyle/>
          <a:p>
            <a:r>
              <a:rPr lang="en-US" sz="5000" b="1" dirty="0">
                <a:latin typeface="Constantia" panose="02030602050306030303" pitchFamily="18" charset="0"/>
              </a:rPr>
              <a:t>JAMB Exam Result Analysis — Insights into Student and School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8043" y="4380316"/>
            <a:ext cx="5302298" cy="1482602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NAME: ADELEKE ADESEWA VICTORIA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DATE: 10TH OF NOVEMBER, 2025.</a:t>
            </a:r>
            <a:r>
              <a:rPr lang="en-US" dirty="0"/>
              <a:t> </a:t>
            </a:r>
          </a:p>
          <a:p>
            <a:endParaRPr lang="en-US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2135345" y="-347241"/>
            <a:ext cx="7554510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08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0" y="1479176"/>
            <a:ext cx="7391400" cy="141536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 and Desired outcomes: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028" y="3334872"/>
            <a:ext cx="11080314" cy="3133164"/>
          </a:xfrm>
        </p:spPr>
        <p:txBody>
          <a:bodyPr>
            <a:normAutofit/>
          </a:bodyPr>
          <a:lstStyle/>
          <a:p>
            <a:endParaRPr lang="en-US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identify trends in students’ JAMB scores across various demographics such as gender, school type, and parental education level.</a:t>
            </a:r>
            <a:endParaRPr lang="en-US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compare average JAMB scores and pass rates across different school types and locations (urban vs. rural).</a:t>
            </a:r>
            <a:endParaRPr lang="en-US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support policymakers, educators, and school administrators in making informed decisions to improve overall academic performance.</a:t>
            </a:r>
            <a:endParaRPr lang="en-US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2659778" y="-4744433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855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660" y="793376"/>
            <a:ext cx="7391400" cy="92903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Data overview: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471" y="1722414"/>
            <a:ext cx="7216589" cy="1366670"/>
          </a:xfrm>
        </p:spPr>
        <p:txBody>
          <a:bodyPr>
            <a:normAutofit/>
          </a:bodyPr>
          <a:lstStyle/>
          <a:p>
            <a:endParaRPr lang="en-US" baseline="30000" dirty="0"/>
          </a:p>
          <a:p>
            <a:r>
              <a:rPr lang="en-US" sz="2600" b="1" baseline="30000" dirty="0"/>
              <a:t>The dataset was obtained from Kaggle and the dataset contains information about students’ academic and background attributes designed to understand the factors influencing JAMB examination outcomes.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2659778" y="-4744433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6BA80D9-5940-4758-9312-0FA8162AC8F9}"/>
              </a:ext>
            </a:extLst>
          </p:cNvPr>
          <p:cNvSpPr txBox="1"/>
          <p:nvPr/>
        </p:nvSpPr>
        <p:spPr>
          <a:xfrm>
            <a:off x="3365" y="3263167"/>
            <a:ext cx="992056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Student Demographics</a:t>
            </a:r>
            <a:r>
              <a:rPr lang="en-US" sz="2200" dirty="0"/>
              <a:t>: Identifies gender distribution and age patterns among students.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Academic Performances</a:t>
            </a:r>
            <a:r>
              <a:rPr lang="en-US" sz="2200" dirty="0"/>
              <a:t>: Represents students achievement and readiness for higher education.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School Information</a:t>
            </a:r>
            <a:r>
              <a:rPr lang="en-US" sz="2200" dirty="0"/>
              <a:t>: Describes characteristics and environs of schools.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Parental and Socioeconomic Factors</a:t>
            </a:r>
            <a:r>
              <a:rPr lang="en-US" sz="2200" dirty="0"/>
              <a:t>: It highlights the family backgrounds of the students and its influence on the performance on the students.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Others</a:t>
            </a:r>
            <a:r>
              <a:rPr lang="en-US" sz="2200" dirty="0"/>
              <a:t>: Measures the accessibility of students to the school environs and its effects on attendance and academic outcomes.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562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3476" y="2097735"/>
            <a:ext cx="7391400" cy="92903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Methodology: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483" y="3295713"/>
            <a:ext cx="11452412" cy="3562287"/>
          </a:xfrm>
        </p:spPr>
        <p:txBody>
          <a:bodyPr>
            <a:normAutofit fontScale="77500" lnSpcReduction="20000"/>
          </a:bodyPr>
          <a:lstStyle/>
          <a:p>
            <a:endParaRPr lang="en-US" baseline="30000" dirty="0"/>
          </a:p>
          <a:p>
            <a:r>
              <a:rPr lang="en-US" sz="3600" baseline="30000" dirty="0"/>
              <a:t>Data preparation and Cleaning: The Data cleaning was conducted in both Microsoft SQL Server and Power BI to ensure accuracy in the final results. For example: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Column Renaming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Rounded Numeric 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Created calculated measures.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There were no duplicates present.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There were missing values present.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Their Data types were accurate.</a:t>
            </a:r>
          </a:p>
          <a:p>
            <a:endParaRPr lang="en-US" sz="3600" baseline="30000" dirty="0"/>
          </a:p>
          <a:p>
            <a:r>
              <a:rPr lang="en-US" sz="3600" baseline="30000" dirty="0"/>
              <a:t>Link to the Dashboard: </a:t>
            </a:r>
          </a:p>
          <a:p>
            <a:endParaRPr lang="en-US" sz="3600" baseline="300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2659778" y="-4744433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780D81A-B3A8-4422-917F-2D3B4D355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193874"/>
              </p:ext>
            </p:extLst>
          </p:nvPr>
        </p:nvGraphicFramePr>
        <p:xfrm>
          <a:off x="7171578" y="5940194"/>
          <a:ext cx="3357470" cy="570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848600" imgH="440280" progId="Package">
                  <p:embed/>
                </p:oleObj>
              </mc:Choice>
              <mc:Fallback>
                <p:oleObj name="Packager Shell Object" showAsIcon="1" r:id="rId3" imgW="1848600" imgH="4402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1578" y="5940194"/>
                        <a:ext cx="3357470" cy="570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841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2342" y="2097735"/>
            <a:ext cx="7391400" cy="92903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Methodology: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3883" y="3295713"/>
            <a:ext cx="9395011" cy="3293345"/>
          </a:xfrm>
        </p:spPr>
        <p:txBody>
          <a:bodyPr>
            <a:normAutofit fontScale="92500" lnSpcReduction="20000"/>
          </a:bodyPr>
          <a:lstStyle/>
          <a:p>
            <a:endParaRPr lang="en-US" baseline="30000" dirty="0"/>
          </a:p>
          <a:p>
            <a:r>
              <a:rPr lang="en-US" sz="3600" baseline="30000" dirty="0"/>
              <a:t>Data preparation and Cleaning: The Data cleaning was conducted in both Microsoft SQL Server and Power BI to ensure accuracy in the final results. For example: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Column Renaming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Rounded Numeric 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Created calculated measures.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There were no duplicates present.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There were missing values present.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aseline="30000" dirty="0"/>
              <a:t>Their Data types were accurate. </a:t>
            </a:r>
          </a:p>
          <a:p>
            <a:endParaRPr lang="en-US" sz="3600" baseline="300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2659778" y="-4744433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222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C117-BAC9-402F-ACAA-5A0F5EDC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3597D-5066-458A-A8EC-41746B4EF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5FD73-6A29-4DBE-8D88-ECDB70E9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44B5-7FCD-4924-AF67-70D40601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F4CF-25A8-4A9B-AB97-0AE52CCF0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9B780-3A9F-489E-929C-D95A4E8A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213-CCC3-4176-9CE0-53683D92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B4D5F-0636-4823-A25B-8F86D1691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E24A18-BE20-4055-84B0-B352C62A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32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2342" y="457201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3883" y="2246847"/>
            <a:ext cx="9395011" cy="3293345"/>
          </a:xfrm>
        </p:spPr>
        <p:txBody>
          <a:bodyPr>
            <a:normAutofit lnSpcReduction="10000"/>
          </a:bodyPr>
          <a:lstStyle/>
          <a:p>
            <a:endParaRPr lang="en-US" baseline="30000" dirty="0"/>
          </a:p>
          <a:p>
            <a:r>
              <a:rPr lang="en-US" sz="3000" b="1" dirty="0"/>
              <a:t>Overall Student Performance: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The average JAMB score across all students was approximately 174. 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Majority of students scored within the 150–200 range(1,796). 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Only a small proportion achieved scores above 250, suggesting limited high performers.</a:t>
            </a:r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752958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054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6989" y="2085483"/>
            <a:ext cx="9395011" cy="3454706"/>
          </a:xfrm>
        </p:spPr>
        <p:txBody>
          <a:bodyPr>
            <a:normAutofit/>
          </a:bodyPr>
          <a:lstStyle/>
          <a:p>
            <a:endParaRPr lang="en-US" baseline="30000" dirty="0"/>
          </a:p>
          <a:p>
            <a:r>
              <a:rPr lang="en-US" sz="3000" b="1" dirty="0"/>
              <a:t>Gender and Academic Performance: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Female students had a slightly higher average JAMB score than Male students, though the difference was minimal.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This indicates comparable performance between genders, showing that gender was not a strong determinant of success.</a:t>
            </a:r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8216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6989" y="2085483"/>
            <a:ext cx="9395011" cy="4430054"/>
          </a:xfrm>
        </p:spPr>
        <p:txBody>
          <a:bodyPr>
            <a:normAutofit/>
          </a:bodyPr>
          <a:lstStyle/>
          <a:p>
            <a:endParaRPr lang="en-US" baseline="30000" dirty="0"/>
          </a:p>
          <a:p>
            <a:r>
              <a:rPr lang="en-US" sz="3000" b="1" dirty="0"/>
              <a:t>Influence of School Type:</a:t>
            </a:r>
          </a:p>
          <a:p>
            <a:pPr marL="857250" indent="-857250">
              <a:buFont typeface="+mj-lt"/>
              <a:buAutoNum type="romanUcPeriod"/>
            </a:pPr>
            <a:endParaRPr lang="en-US" sz="2800" dirty="0"/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The average JAMB score for private school students was higher than that of the public school students.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This may reflect differences in learning resources, teacher quality, or academic support.</a:t>
            </a:r>
          </a:p>
          <a:p>
            <a:endParaRPr lang="en-US" sz="2800" dirty="0"/>
          </a:p>
          <a:p>
            <a:pPr marL="857250" indent="-857250">
              <a:buFont typeface="+mj-lt"/>
              <a:buAutoNum type="romanUcPeriod"/>
            </a:pPr>
            <a:endParaRPr lang="en-US" sz="28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631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6989" y="2085483"/>
            <a:ext cx="9395011" cy="4430054"/>
          </a:xfrm>
        </p:spPr>
        <p:txBody>
          <a:bodyPr>
            <a:normAutofit/>
          </a:bodyPr>
          <a:lstStyle/>
          <a:p>
            <a:endParaRPr lang="en-US" baseline="30000" dirty="0"/>
          </a:p>
          <a:p>
            <a:endParaRPr lang="en-US" sz="3000" b="1" dirty="0"/>
          </a:p>
          <a:p>
            <a:r>
              <a:rPr lang="en-US" sz="3000" b="1" dirty="0"/>
              <a:t>Impact of School Location:</a:t>
            </a:r>
            <a:endParaRPr lang="en-US" sz="2800" dirty="0"/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Urban schools had a slightly higher average JAMB score than rural schools, highlighting a geographical performance gap.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Students in urban areas may benefit from better access to educational infrastructure and internet connectivity.</a:t>
            </a:r>
          </a:p>
          <a:p>
            <a:endParaRPr lang="en-US" sz="2800" dirty="0"/>
          </a:p>
          <a:p>
            <a:pPr marL="857250" indent="-857250">
              <a:buFont typeface="+mj-lt"/>
              <a:buAutoNum type="romanUcPeriod"/>
            </a:pPr>
            <a:endParaRPr lang="en-US" sz="28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444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6989" y="2085483"/>
            <a:ext cx="9395011" cy="4430054"/>
          </a:xfrm>
        </p:spPr>
        <p:txBody>
          <a:bodyPr>
            <a:normAutofit fontScale="77500" lnSpcReduction="20000"/>
          </a:bodyPr>
          <a:lstStyle/>
          <a:p>
            <a:endParaRPr lang="en-US" baseline="30000" dirty="0"/>
          </a:p>
          <a:p>
            <a:endParaRPr lang="en-US" sz="3000" b="1" dirty="0"/>
          </a:p>
          <a:p>
            <a:r>
              <a:rPr lang="en-US" sz="3000" b="1" dirty="0"/>
              <a:t>Impact of other factors:</a:t>
            </a:r>
            <a:endParaRPr lang="en-US" sz="2800" dirty="0"/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Students whose parents attained tertiary education consistently scored higher in JAMB compared to those whose parents had no formal education.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There was a negative relationship between distance to school and JAMB score — students who traveled longer distances generally performed worse.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2800" dirty="0"/>
              <a:t>Students from higher socioeconomic backgrounds and those with strong IT knowledge tended to perform better</a:t>
            </a:r>
            <a:r>
              <a:rPr lang="en-US" sz="2000" dirty="0"/>
              <a:t>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3000" dirty="0"/>
              <a:t>Schools with higher attendance rates recorded better average scores, confirming the positive impact of consistent classroom participation on exam results.</a:t>
            </a:r>
          </a:p>
          <a:p>
            <a:endParaRPr lang="en-US" sz="3000" dirty="0"/>
          </a:p>
          <a:p>
            <a:pPr marL="857250" indent="-857250">
              <a:buFont typeface="+mj-lt"/>
              <a:buAutoNum type="romanUcPeriod"/>
            </a:pPr>
            <a:endParaRPr lang="en-US" sz="28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246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4707" y="1816542"/>
            <a:ext cx="10847294" cy="5041458"/>
          </a:xfrm>
        </p:spPr>
        <p:txBody>
          <a:bodyPr>
            <a:normAutofit fontScale="70000" lnSpcReduction="20000"/>
          </a:bodyPr>
          <a:lstStyle/>
          <a:p>
            <a:endParaRPr lang="en-US" baseline="30000" dirty="0"/>
          </a:p>
          <a:p>
            <a:r>
              <a:rPr lang="en-US" sz="2800" dirty="0"/>
              <a:t>Strengthen Support for Underperforming Schools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Public and rural schools should receive more support to close the performance gap with urban and private schools. </a:t>
            </a:r>
          </a:p>
          <a:p>
            <a:r>
              <a:rPr lang="en-US" sz="2800" dirty="0"/>
              <a:t>Promote Equal Learning Opportunities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Since female students performed slightly better, academic schemes should be made to sustain female academic engagement while encouraging male students to match their performance.</a:t>
            </a:r>
          </a:p>
          <a:p>
            <a:r>
              <a:rPr lang="en-US" sz="2800" dirty="0"/>
              <a:t>Encourage Parental Involvement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Since students with highly educated or involved parents perform better, parental engagement campaigns can make a significant difference.</a:t>
            </a:r>
          </a:p>
          <a:p>
            <a:r>
              <a:rPr lang="en-US" sz="2800" dirty="0"/>
              <a:t>Reduce Distance Barriers to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Establish more community-based learning centers or improve transportation options for students who live far from school.</a:t>
            </a:r>
          </a:p>
          <a:p>
            <a:r>
              <a:rPr lang="en-US" sz="2900" dirty="0"/>
              <a:t>Leverage Technology and Digital Literacy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Promote IT skill development among students, as strong IT knowledge correlated with higher JAMB scores.</a:t>
            </a:r>
          </a:p>
          <a:p>
            <a:r>
              <a:rPr lang="en-US" sz="3200" dirty="0"/>
              <a:t>Others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Provide scholarships, grants, or free tutorial programs for students from low socioeconomic backgrounds.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Students with higher attendance rates performed better , so, establish attendance reward systems and early interventions for absentee students.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4000" dirty="0"/>
          </a:p>
          <a:p>
            <a:endParaRPr lang="en-US" sz="2800" b="1" dirty="0"/>
          </a:p>
          <a:p>
            <a:endParaRPr lang="en-US" sz="2800" dirty="0"/>
          </a:p>
          <a:p>
            <a:pPr marL="857250" indent="-857250">
              <a:buFont typeface="+mj-lt"/>
              <a:buAutoNum type="romanUcPeriod"/>
            </a:pPr>
            <a:endParaRPr lang="en-US" sz="2800" dirty="0"/>
          </a:p>
          <a:p>
            <a:endParaRPr lang="en-US" sz="3600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8864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80E-DC56-4F53-85A2-08A05C27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6400" y="753037"/>
            <a:ext cx="7391400" cy="929038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198B0-BD66-455A-B084-B79A80E1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4707" y="2161240"/>
            <a:ext cx="10847294" cy="4105089"/>
          </a:xfrm>
        </p:spPr>
        <p:txBody>
          <a:bodyPr>
            <a:normAutofit fontScale="92500"/>
          </a:bodyPr>
          <a:lstStyle/>
          <a:p>
            <a:endParaRPr lang="en-US" baseline="30000" dirty="0"/>
          </a:p>
          <a:p>
            <a:r>
              <a:rPr lang="en-US" sz="2800" dirty="0"/>
              <a:t>This analysis of JAMB exam results provides valuable insights into how student, school, and parental factors influence academic performance.</a:t>
            </a:r>
          </a:p>
          <a:p>
            <a:r>
              <a:rPr lang="en-US" sz="2800" dirty="0"/>
              <a:t>In all, the data highlights that improving access, equity, and support systems can lead to stronger academic outcomes.</a:t>
            </a:r>
            <a:br>
              <a:rPr lang="en-US" sz="2800" dirty="0"/>
            </a:br>
            <a:r>
              <a:rPr lang="en-US" sz="2800" dirty="0"/>
              <a:t>By applying data-driven strategies like enhancing rural education, promoting digital literacy, and engaging parents, education higherups can bridge the performance gap and foster excellence across all student groups.</a:t>
            </a:r>
          </a:p>
          <a:p>
            <a:endParaRPr lang="en-US" sz="2800" baseline="30000" dirty="0"/>
          </a:p>
          <a:p>
            <a:r>
              <a:rPr lang="en-US" sz="5000" baseline="30000" dirty="0"/>
              <a:t>THANK YOU FOR LISTENING!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D45302-D7A8-439E-B003-52F7D86ABA9B}"/>
              </a:ext>
            </a:extLst>
          </p:cNvPr>
          <p:cNvGrpSpPr/>
          <p:nvPr/>
        </p:nvGrpSpPr>
        <p:grpSpPr>
          <a:xfrm>
            <a:off x="-3076635" y="-5672276"/>
            <a:ext cx="7245752" cy="7836061"/>
            <a:chOff x="-1444921" y="-3228545"/>
            <a:chExt cx="8774163" cy="14124107"/>
          </a:xfrm>
          <a:blipFill>
            <a:blip r:embed="rId2"/>
            <a:stretch>
              <a:fillRect/>
            </a:stretch>
          </a:blip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D37DB7-B30E-403B-89B3-E51539C924A6}"/>
                </a:ext>
              </a:extLst>
            </p:cNvPr>
            <p:cNvGrpSpPr/>
            <p:nvPr/>
          </p:nvGrpSpPr>
          <p:grpSpPr>
            <a:xfrm>
              <a:off x="-1444921" y="-518228"/>
              <a:ext cx="8774163" cy="11413790"/>
              <a:chOff x="-1444921" y="-504976"/>
              <a:chExt cx="8774163" cy="11413790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E02B6AA-2989-42AA-AEAA-F4E8F7EBFDAB}"/>
                  </a:ext>
                </a:extLst>
              </p:cNvPr>
              <p:cNvGrpSpPr/>
              <p:nvPr/>
            </p:nvGrpSpPr>
            <p:grpSpPr>
              <a:xfrm>
                <a:off x="-1444921" y="-504976"/>
                <a:ext cx="8774163" cy="8708061"/>
                <a:chOff x="-1444922" y="-993915"/>
                <a:chExt cx="9899962" cy="8237241"/>
              </a:xfrm>
              <a:grpFill/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99ECF8-439A-4750-B8BA-E7A474C06E45}"/>
                    </a:ext>
                  </a:extLst>
                </p:cNvPr>
                <p:cNvSpPr/>
                <p:nvPr/>
              </p:nvSpPr>
              <p:spPr>
                <a:xfrm rot="5400000">
                  <a:off x="-219920" y="1733226"/>
                  <a:ext cx="3101009" cy="2782960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A0A4647F-9110-42C8-9935-88B8055FAB03}"/>
                    </a:ext>
                  </a:extLst>
                </p:cNvPr>
                <p:cNvSpPr/>
                <p:nvPr/>
              </p:nvSpPr>
              <p:spPr>
                <a:xfrm rot="5400000">
                  <a:off x="2653734" y="173322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A9D68147-BBDF-4858-843C-41ADF2560A8D}"/>
                    </a:ext>
                  </a:extLst>
                </p:cNvPr>
                <p:cNvSpPr/>
                <p:nvPr/>
              </p:nvSpPr>
              <p:spPr>
                <a:xfrm rot="5400000">
                  <a:off x="-1586955" y="4301343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2A54B126-47C7-45CA-A82A-00044C96FC18}"/>
                    </a:ext>
                  </a:extLst>
                </p:cNvPr>
                <p:cNvSpPr/>
                <p:nvPr/>
              </p:nvSpPr>
              <p:spPr>
                <a:xfrm rot="5400000">
                  <a:off x="1224575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BD82730A-B611-4E3A-88E7-94BB60AF6F6F}"/>
                    </a:ext>
                  </a:extLst>
                </p:cNvPr>
                <p:cNvSpPr/>
                <p:nvPr/>
              </p:nvSpPr>
              <p:spPr>
                <a:xfrm rot="5400000">
                  <a:off x="4067998" y="429700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2DAE2D58-7AE3-4CE7-BD35-9FF9112E3D0E}"/>
                    </a:ext>
                  </a:extLst>
                </p:cNvPr>
                <p:cNvSpPr/>
                <p:nvPr/>
              </p:nvSpPr>
              <p:spPr>
                <a:xfrm rot="5400000">
                  <a:off x="-1603948" y="-834887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4E1C554C-95D2-433A-8F53-F2040AAD57C9}"/>
                    </a:ext>
                  </a:extLst>
                </p:cNvPr>
                <p:cNvSpPr/>
                <p:nvPr/>
              </p:nvSpPr>
              <p:spPr>
                <a:xfrm rot="5400000">
                  <a:off x="1232592" y="-834889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A65F37-E189-4C79-918D-ED3D0184D1AF}"/>
                    </a:ext>
                  </a:extLst>
                </p:cNvPr>
                <p:cNvSpPr/>
                <p:nvPr/>
              </p:nvSpPr>
              <p:spPr>
                <a:xfrm rot="5400000">
                  <a:off x="5513057" y="1755284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61B158C4-6BED-4437-87CF-A73CF4CAC139}"/>
                    </a:ext>
                  </a:extLst>
                </p:cNvPr>
                <p:cNvSpPr/>
                <p:nvPr/>
              </p:nvSpPr>
              <p:spPr>
                <a:xfrm rot="5400000">
                  <a:off x="4098795" y="-830550"/>
                  <a:ext cx="3101009" cy="2782957"/>
                </a:xfrm>
                <a:prstGeom prst="hexagon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Hexagon 24">
                <a:extLst>
                  <a:ext uri="{FF2B5EF4-FFF2-40B4-BE49-F238E27FC236}">
                    <a16:creationId xmlns:a16="http://schemas.microsoft.com/office/drawing/2014/main" id="{1EB8EFA1-C44B-4DDA-9237-DC3F9E17CA0A}"/>
                  </a:ext>
                </a:extLst>
              </p:cNvPr>
              <p:cNvSpPr/>
              <p:nvPr/>
            </p:nvSpPr>
            <p:spPr>
              <a:xfrm rot="5400000">
                <a:off x="-602502" y="8036444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FD83D1ED-C00A-4ADD-991B-7D710CB0D1CD}"/>
                  </a:ext>
                </a:extLst>
              </p:cNvPr>
              <p:cNvSpPr/>
              <p:nvPr/>
            </p:nvSpPr>
            <p:spPr>
              <a:xfrm rot="5400000">
                <a:off x="1889308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0B832F08-6A66-4152-BF7C-7CDEB7CD0075}"/>
                  </a:ext>
                </a:extLst>
              </p:cNvPr>
              <p:cNvSpPr/>
              <p:nvPr/>
            </p:nvSpPr>
            <p:spPr>
              <a:xfrm rot="5400000">
                <a:off x="4409384" y="8031857"/>
                <a:ext cx="3278255" cy="2466486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6CE1187-D72D-4E4E-9D55-8EB37D1A1ADF}"/>
                </a:ext>
              </a:extLst>
            </p:cNvPr>
            <p:cNvSpPr/>
            <p:nvPr/>
          </p:nvSpPr>
          <p:spPr>
            <a:xfrm rot="5400000">
              <a:off x="-575207" y="-2818073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BF6876D-8F46-4933-991F-6E9FF258F694}"/>
                </a:ext>
              </a:extLst>
            </p:cNvPr>
            <p:cNvSpPr/>
            <p:nvPr/>
          </p:nvSpPr>
          <p:spPr>
            <a:xfrm rot="5400000">
              <a:off x="1916603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0521B8B-1562-4F8C-A770-2B733FF44C43}"/>
                </a:ext>
              </a:extLst>
            </p:cNvPr>
            <p:cNvSpPr/>
            <p:nvPr/>
          </p:nvSpPr>
          <p:spPr>
            <a:xfrm rot="5400000">
              <a:off x="4436679" y="-2822660"/>
              <a:ext cx="3278255" cy="2466486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107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826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Constantia</vt:lpstr>
      <vt:lpstr>Segoe UI</vt:lpstr>
      <vt:lpstr>Office Theme</vt:lpstr>
      <vt:lpstr>Package</vt:lpstr>
      <vt:lpstr>JAMB Exam Result Analysis — Insights into Student and School Performance</vt:lpstr>
      <vt:lpstr>Objectives and Desired outcomes:</vt:lpstr>
      <vt:lpstr>Data overview: </vt:lpstr>
      <vt:lpstr>Methodology: </vt:lpstr>
      <vt:lpstr>Methodology: </vt:lpstr>
      <vt:lpstr>PowerPoint Presentation</vt:lpstr>
      <vt:lpstr>PowerPoint Presentation</vt:lpstr>
      <vt:lpstr>PowerPoint Presentation</vt:lpstr>
      <vt:lpstr>Key findings: </vt:lpstr>
      <vt:lpstr>Key findings: </vt:lpstr>
      <vt:lpstr>Key findings: </vt:lpstr>
      <vt:lpstr>Key findings: </vt:lpstr>
      <vt:lpstr>Key findings: </vt:lpstr>
      <vt:lpstr>Recommendation: 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JAMB Exam Result Analysis — Insights into Student and School Performance</dc:title>
  <dc:creator>sisimiadesewa@gmail.com</dc:creator>
  <cp:lastModifiedBy>sisimiadesewa@gmail.com</cp:lastModifiedBy>
  <cp:revision>1</cp:revision>
  <dcterms:created xsi:type="dcterms:W3CDTF">2025-11-10T02:40:33Z</dcterms:created>
  <dcterms:modified xsi:type="dcterms:W3CDTF">2025-11-10T05:52:25Z</dcterms:modified>
</cp:coreProperties>
</file>